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c7fc86f3a94656" /><Relationship Type="http://schemas.openxmlformats.org/officeDocument/2006/relationships/extended-properties" Target="/docProps/app.xml" Id="R8ac6009cac884fdd" /><Relationship Type="http://schemas.openxmlformats.org/officeDocument/2006/relationships/officeDocument" Target="/ppt/presentation.xml" Id="R89c4264950f04f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fd9be183654032"/>
  </p:sldMasterIdLst>
  <p:notesMasterIdLst>
    <p:notesMasterId xmlns:r="http://schemas.openxmlformats.org/officeDocument/2006/relationships" r:id="R9f700af754a3432f"/>
  </p:notesMasterIdLst>
  <p:sldIdLst>
    <p:sldId xmlns:r="http://schemas.openxmlformats.org/officeDocument/2006/relationships" id="256" r:id="R1d680d8b608b4550"/>
    <p:sldId xmlns:r="http://schemas.openxmlformats.org/officeDocument/2006/relationships" id="257" r:id="Reb7e6bf3a56d41c7"/>
    <p:sldId xmlns:r="http://schemas.openxmlformats.org/officeDocument/2006/relationships" id="258" r:id="R9d87cbde5b184896"/>
    <p:sldId xmlns:r="http://schemas.openxmlformats.org/officeDocument/2006/relationships" id="259" r:id="R6ac0a7f584184131"/>
    <p:sldId xmlns:r="http://schemas.openxmlformats.org/officeDocument/2006/relationships" id="260" r:id="Ra74c4ccae5844dc0"/>
    <p:sldId xmlns:r="http://schemas.openxmlformats.org/officeDocument/2006/relationships" id="261" r:id="Re6cc223ec7b44a62"/>
    <p:sldId xmlns:r="http://schemas.openxmlformats.org/officeDocument/2006/relationships" id="262" r:id="R667e178c483845bf"/>
    <p:sldId xmlns:r="http://schemas.openxmlformats.org/officeDocument/2006/relationships" id="263" r:id="R6af1f3e0a3ab490e"/>
    <p:sldId xmlns:r="http://schemas.openxmlformats.org/officeDocument/2006/relationships" id="264" r:id="Raaf6c09662ba42ac"/>
    <p:sldId xmlns:r="http://schemas.openxmlformats.org/officeDocument/2006/relationships" id="265" r:id="R91b775b8571f4116"/>
    <p:sldId xmlns:r="http://schemas.openxmlformats.org/officeDocument/2006/relationships" id="266" r:id="R67cf00ac4e544ae4"/>
    <p:sldId xmlns:r="http://schemas.openxmlformats.org/officeDocument/2006/relationships" id="267" r:id="R2767285bc0074df6"/>
    <p:sldId xmlns:r="http://schemas.openxmlformats.org/officeDocument/2006/relationships" id="268" r:id="Rc5a29da78f104865"/>
    <p:sldId xmlns:r="http://schemas.openxmlformats.org/officeDocument/2006/relationships" id="269" r:id="R2fcdc65e8ed1452e"/>
    <p:sldId xmlns:r="http://schemas.openxmlformats.org/officeDocument/2006/relationships" id="270" r:id="Rb5b8e89a1ab74a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c1dfad4c154b74" /><Relationship Type="http://schemas.openxmlformats.org/officeDocument/2006/relationships/slideMaster" Target="/ppt/slideMasters/slideMaster1.xml" Id="R49fd9be183654032" /><Relationship Type="http://schemas.openxmlformats.org/officeDocument/2006/relationships/notesMaster" Target="/ppt/notesMasters/notesMaster1.xml" Id="R9f700af754a3432f" /><Relationship Type="http://schemas.openxmlformats.org/officeDocument/2006/relationships/presProps" Target="/ppt/presProps.xml" Id="R84c63398e5234df5" /><Relationship Type="http://schemas.openxmlformats.org/officeDocument/2006/relationships/tableStyles" Target="/ppt/tableStyles.xml" Id="Rd563c96960df4769" /><Relationship Type="http://schemas.openxmlformats.org/officeDocument/2006/relationships/slide" Target="/ppt/slides/slide1.xml" Id="R1d680d8b608b4550" /><Relationship Type="http://schemas.openxmlformats.org/officeDocument/2006/relationships/slide" Target="/ppt/slides/slide2.xml" Id="Reb7e6bf3a56d41c7" /><Relationship Type="http://schemas.openxmlformats.org/officeDocument/2006/relationships/slide" Target="/ppt/slides/slide3.xml" Id="R9d87cbde5b184896" /><Relationship Type="http://schemas.openxmlformats.org/officeDocument/2006/relationships/slide" Target="/ppt/slides/slide4.xml" Id="R6ac0a7f584184131" /><Relationship Type="http://schemas.openxmlformats.org/officeDocument/2006/relationships/slide" Target="/ppt/slides/slide5.xml" Id="Ra74c4ccae5844dc0" /><Relationship Type="http://schemas.openxmlformats.org/officeDocument/2006/relationships/slide" Target="/ppt/slides/slide6.xml" Id="Re6cc223ec7b44a62" /><Relationship Type="http://schemas.openxmlformats.org/officeDocument/2006/relationships/slide" Target="/ppt/slides/slide7.xml" Id="R667e178c483845bf" /><Relationship Type="http://schemas.openxmlformats.org/officeDocument/2006/relationships/slide" Target="/ppt/slides/slide8.xml" Id="R6af1f3e0a3ab490e" /><Relationship Type="http://schemas.openxmlformats.org/officeDocument/2006/relationships/slide" Target="/ppt/slides/slide9.xml" Id="Raaf6c09662ba42ac" /><Relationship Type="http://schemas.openxmlformats.org/officeDocument/2006/relationships/slide" Target="/ppt/slides/slide10.xml" Id="R91b775b8571f4116" /><Relationship Type="http://schemas.openxmlformats.org/officeDocument/2006/relationships/slide" Target="/ppt/slides/slide11.xml" Id="R67cf00ac4e544ae4" /><Relationship Type="http://schemas.openxmlformats.org/officeDocument/2006/relationships/slide" Target="/ppt/slides/slide12.xml" Id="R2767285bc0074df6" /><Relationship Type="http://schemas.openxmlformats.org/officeDocument/2006/relationships/slide" Target="/ppt/slides/slide13.xml" Id="Rc5a29da78f104865" /><Relationship Type="http://schemas.openxmlformats.org/officeDocument/2006/relationships/slide" Target="/ppt/slides/slide14.xml" Id="R2fcdc65e8ed1452e" /><Relationship Type="http://schemas.openxmlformats.org/officeDocument/2006/relationships/slide" Target="/ppt/slides/slide15.xml" Id="Rb5b8e89a1ab74a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977fba03484d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0cfecc5ab7417b" /><Relationship Type="http://schemas.openxmlformats.org/officeDocument/2006/relationships/notesMaster" Target="/ppt/notesMasters/notesMaster1.xml" Id="Rde03288e9e474c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45afb5bd8248d3" /><Relationship Type="http://schemas.openxmlformats.org/officeDocument/2006/relationships/notesMaster" Target="/ppt/notesMasters/notesMaster1.xml" Id="Rc749036a25944b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386e29a261449a" /><Relationship Type="http://schemas.openxmlformats.org/officeDocument/2006/relationships/notesMaster" Target="/ppt/notesMasters/notesMaster1.xml" Id="Ra6599cabf43e4c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db71ae643046c1" /><Relationship Type="http://schemas.openxmlformats.org/officeDocument/2006/relationships/notesMaster" Target="/ppt/notesMasters/notesMaster1.xml" Id="Re7138f4361e34f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38e8a0abf24a67" /><Relationship Type="http://schemas.openxmlformats.org/officeDocument/2006/relationships/notesMaster" Target="/ppt/notesMasters/notesMaster1.xml" Id="Rd4d68783ec954f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fc5c975b7545c5" /><Relationship Type="http://schemas.openxmlformats.org/officeDocument/2006/relationships/notesMaster" Target="/ppt/notesMasters/notesMaster1.xml" Id="R4865166f1b6943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e553b465d646f8" /><Relationship Type="http://schemas.openxmlformats.org/officeDocument/2006/relationships/notesMaster" Target="/ppt/notesMasters/notesMaster1.xml" Id="R2fab52ce7cad4b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7e1702608f4359" /><Relationship Type="http://schemas.openxmlformats.org/officeDocument/2006/relationships/notesMaster" Target="/ppt/notesMasters/notesMaster1.xml" Id="Redbb84eb90ef4a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9f240018ea4f09" /><Relationship Type="http://schemas.openxmlformats.org/officeDocument/2006/relationships/notesMaster" Target="/ppt/notesMasters/notesMaster1.xml" Id="R38d838ebfa3c46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76368008ea492b" /><Relationship Type="http://schemas.openxmlformats.org/officeDocument/2006/relationships/notesMaster" Target="/ppt/notesMasters/notesMaster1.xml" Id="R0d009d85129243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38b64135b14510" /><Relationship Type="http://schemas.openxmlformats.org/officeDocument/2006/relationships/notesMaster" Target="/ppt/notesMasters/notesMaster1.xml" Id="R3f97d0b770b244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9afa88e4b243d0" /><Relationship Type="http://schemas.openxmlformats.org/officeDocument/2006/relationships/notesMaster" Target="/ppt/notesMasters/notesMaster1.xml" Id="R39664a819b854b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9bbaf0f32b4b86" /><Relationship Type="http://schemas.openxmlformats.org/officeDocument/2006/relationships/notesMaster" Target="/ppt/notesMasters/notesMaster1.xml" Id="R9e12aa3c0d0c49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28e1724ee94d0d" /><Relationship Type="http://schemas.openxmlformats.org/officeDocument/2006/relationships/notesMaster" Target="/ppt/notesMasters/notesMaster1.xml" Id="Rdd4a0d4891ad49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df98a248a840d4" /><Relationship Type="http://schemas.openxmlformats.org/officeDocument/2006/relationships/notesMaster" Target="/ppt/notesMasters/notesMaster1.xml" Id="R62497f7d6bce47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 задаёт систему: спокойное поле под текст слева, доминирующая гравюра справа, без текста внутри изображения.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Psy3107 current visual system and visual philosophy (local project source).</a:t>
            </a:r>
          </a:p>
          <a:p xmlns:a="http://schemas.openxmlformats.org/drawingml/2006/main">
            <a:r>
              <a:t>- Original Psy3107 generated artwork: psy3107-slide-cover-wide.png.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Инструкция предназначена и для человека, и для генеративной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Psy3107 current visual system and visual philosophy (local project source).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фиксирует пять неизменных характеристик художественного движения.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Psy3107 current visual system and visual philosophy (local project source).</a:t>
            </a:r>
          </a:p>
          <a:p xmlns:a="http://schemas.openxmlformats.org/drawingml/2006/main">
            <a:r>
              <a:t>- Original Psy3107 generated artwork: psy3107-hero-etching.png.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Цветовые значения совпадают с текущей системой Psy3107.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Psy3107 current visual system and visual philosophy (local project source).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задаёт модульную логику сюжетов для новых изображений.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Psy3107 current visual system and visual philosophy (local project source).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slide shapes show the required 40/60 composition and safe zone.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Psy3107 current visual system and visual philosophy (local project source).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deck itself uses Georgia and Arial for portable rendering, while naming the preferred brand pair.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Psy3107 current visual system and visual philosophy (local project source).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seven slide functions map directly to the ready-made prompts in the prompt pack.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Psy3107 current visual system and visual philosophy (local project source).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Ready prompt: Fragmented classical profile merging with anatomical brain section, archive layers and a straight labyrinth; vintage academic etching and restrained watercolor mist; subject right, quiet field left; no text, no arches.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Psy3107 current visual system and visual philosophy (local project source).</a:t>
            </a:r>
          </a:p>
          <a:p xmlns:a="http://schemas.openxmlformats.org/drawingml/2006/main">
            <a:r>
              <a:t>- Original Psy3107 generated artwork: psy3107-slide-fragment-wide.png.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Ready prompt: Engraved anatomical hands with nerves becoming roots and ink branches; aged paper, aquatint, sepia, indigo, tiny carmine and dull-gold accents; object left, quiet field right; no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Psy3107 current visual system and visual philosophy (local project source).</a:t>
            </a:r>
          </a:p>
          <a:p xmlns:a="http://schemas.openxmlformats.org/drawingml/2006/main">
            <a:r>
              <a:t>- Original Psy3107 generated artwork: psy3107-slide-hands-wide.png.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Ready prompt: Anatomical brain cutaway becoming geological strata and a rectilinear labyrinth; scholarly surreal atlas plate, copper etching and aquatint, muted sepia and indigo; no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Psy3107 current visual system and visual philosophy (local project source).</a:t>
            </a:r>
          </a:p>
          <a:p xmlns:a="http://schemas.openxmlformats.org/drawingml/2006/main">
            <a:r>
              <a:t>- Original Psy3107 generated artwork: psy3107-brain-labyrinth.png.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Ready prompt: Late-19th-century psychoanalytic study with two empty chairs, the room dissolving into botanical plates, neural branches and indigo dream mist; fine etching and aquatint, no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Psy3107 current visual system and visual philosophy (local project source).</a:t>
            </a:r>
          </a:p>
          <a:p xmlns:a="http://schemas.openxmlformats.org/drawingml/2006/main">
            <a:r>
              <a:t>- Original Psy3107 generated artwork: psy3107-archive-study.png.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complete master prompt is available in outputs/Psy3107_Presentation_Prompt_Pack.txt.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Psy3107 current visual system and visual philosophy (local project source).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negative prompt reproduces the user-approved exclusions and adds slide-specific protection against arches.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Psy3107 current visual system and visual philosophy (local project source).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operational slide: upload the PDF, the prompt pack, and one to three references.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Psy3107 current visual system and visual philosophy (local project source).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94c6a5d9945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4fed17ecaa42c8" /><Relationship Type="http://schemas.openxmlformats.org/officeDocument/2006/relationships/slideLayout" Target="/ppt/slideLayouts/slideLayout1.xml" Id="Rdf6e9ac17da246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6e9ac17da246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f4e654cbf4cf9" /><Relationship Type="http://schemas.openxmlformats.org/officeDocument/2006/relationships/image" Target="/ppt/media/image.png" Id="R9406636bff1f4076" /><Relationship Type="http://schemas.openxmlformats.org/officeDocument/2006/relationships/notesSlide" Target="/ppt/notesSlides/notesSlide1.xml" Id="R90503859ff5e4c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dd368529d4ce4" /><Relationship Type="http://schemas.openxmlformats.org/officeDocument/2006/relationships/notesSlide" Target="/ppt/notesSlides/notesSlide2.xml" Id="R76435ebd7f4e4d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f54f0d6d04eff" /><Relationship Type="http://schemas.openxmlformats.org/officeDocument/2006/relationships/image" Target="/ppt/media/image2.png" Id="R72ccc5c8c20b4c96" /><Relationship Type="http://schemas.openxmlformats.org/officeDocument/2006/relationships/notesSlide" Target="/ppt/notesSlides/notesSlide3.xml" Id="R5aca124f17d54a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4ad477abe4c31" /><Relationship Type="http://schemas.openxmlformats.org/officeDocument/2006/relationships/notesSlide" Target="/ppt/notesSlides/notesSlide4.xml" Id="Rdbb293a8c8954c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391ad99fb43cb" /><Relationship Type="http://schemas.openxmlformats.org/officeDocument/2006/relationships/notesSlide" Target="/ppt/notesSlides/notesSlide5.xml" Id="Red2afec736fe4f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b7cbf78d543ee" /><Relationship Type="http://schemas.openxmlformats.org/officeDocument/2006/relationships/notesSlide" Target="/ppt/notesSlides/notesSlide6.xml" Id="Rf79b816fb4ca46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2456e38b44c4a" /><Relationship Type="http://schemas.openxmlformats.org/officeDocument/2006/relationships/notesSlide" Target="/ppt/notesSlides/notesSlide7.xml" Id="R35f6bf33ea9645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c2868c00640ee" /><Relationship Type="http://schemas.openxmlformats.org/officeDocument/2006/relationships/notesSlide" Target="/ppt/notesSlides/notesSlide8.xml" Id="Rdfae296ac7f547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430dbf4494832" /><Relationship Type="http://schemas.openxmlformats.org/officeDocument/2006/relationships/image" Target="/ppt/media/image3.png" Id="Rf2c9e562d6f14ef8" /><Relationship Type="http://schemas.openxmlformats.org/officeDocument/2006/relationships/notesSlide" Target="/ppt/notesSlides/notesSlide9.xml" Id="R5ea6812e36664f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efaec5f8b4396" /><Relationship Type="http://schemas.openxmlformats.org/officeDocument/2006/relationships/image" Target="/ppt/media/image4.png" Id="R4e5224b2bab24f83" /><Relationship Type="http://schemas.openxmlformats.org/officeDocument/2006/relationships/notesSlide" Target="/ppt/notesSlides/notesSlide10.xml" Id="R401a2d65b3e34a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070c5dec44478" /><Relationship Type="http://schemas.openxmlformats.org/officeDocument/2006/relationships/image" Target="/ppt/media/image5.png" Id="R7eaeb82b94294dd1" /><Relationship Type="http://schemas.openxmlformats.org/officeDocument/2006/relationships/notesSlide" Target="/ppt/notesSlides/notesSlide11.xml" Id="Rdbb6924dfd514c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ebe8e5cf9430e" /><Relationship Type="http://schemas.openxmlformats.org/officeDocument/2006/relationships/image" Target="/ppt/media/image6.png" Id="R7a36b11fb2b84e85" /><Relationship Type="http://schemas.openxmlformats.org/officeDocument/2006/relationships/notesSlide" Target="/ppt/notesSlides/notesSlide12.xml" Id="Ref6399bc29e347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bd162543c47ef" /><Relationship Type="http://schemas.openxmlformats.org/officeDocument/2006/relationships/notesSlide" Target="/ppt/notesSlides/notesSlide13.xml" Id="Rd22d35b16c3c4a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e74b00866411f" /><Relationship Type="http://schemas.openxmlformats.org/officeDocument/2006/relationships/notesSlide" Target="/ppt/notesSlides/notesSlide14.xml" Id="R8b46a0853ac44f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5b42963b54126" /><Relationship Type="http://schemas.openxmlformats.org/officeDocument/2006/relationships/notesSlide" Target="/ppt/notesSlides/notesSlide15.xml" Id="Rb3c6ce29c4d946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6636bff1f4076"/>
          <a:srcRect xmlns:a="http://schemas.openxmlformats.org/drawingml/2006/main" l="0" t="781" r="0" b="7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C673D-ED44-481A-9F5B-EA5C20FD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48E40-D43F-42EB-A399-1FEB715C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PSY3107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AC2A147F-360C-4311-BF70-D0AF0FF6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510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Брендбук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510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для презентаций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EBDE8-6D0F-4E26-9C44-B0869624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Академический сюрреализм · винтажная гравюра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2DEA3-DC2C-42F1-BC20-F6BE05C0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Визуальные правила · макеты · master-prompts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57048-8609-4B5A-A42C-3D86BC56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566CB-FA30-415D-AB44-67123A47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АРХИВ БЕССОЗНАТЕЛЬНОГО</a:t>
            </a:r>
          </a:p>
        </p:txBody>
      </p:sp>
    </p:spTree>
    <p:extLst>
      <p:ext uri="{BB962C8B-B14F-4D97-AF65-F5344CB8AC3E}">
        <p14:creationId xmlns:p14="http://schemas.microsoft.com/office/powerpoint/2010/main" val="567044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8C7A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FD0F7-584C-4B72-B6CD-18240369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993AD-5511-4BF6-86D7-1A37C344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7DA7E-3C8E-4F59-A3D4-EC60A57B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A1E58-9A36-4D0B-999D-10ED72A6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КАК ИСПОЛЬЗОВАТЬ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8E8C5-0A17-458D-88D8-9D4116CD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3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F9E44D-8718-4809-A008-BC6E937A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953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Брендбук как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визуальная память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нейросети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9C18E-75EF-49BB-9596-BBEFFE5A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44577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Загружайте PDF-брендбук вместе с prompt-pack. Затем называйте функцию слайда — и нейросеть будет выбирать композицию, а не просто копировать сюжет.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10F0A-1165-4058-ABD3-56468D21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90600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 i="0">
                <a:solidFill>
                  <a:srgbClr val="7B432F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7B432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39D55-A0B6-44BD-8FB5-B547382D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Загрузить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E4AEC-142A-46C0-A4DE-8A9898C6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PDF + TXT + 1–3 эталонных изображения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CA130-E0B5-4D5C-AC22-393614DC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C87B1-FBF9-4414-953A-76922251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 i="0">
                <a:solidFill>
                  <a:srgbClr val="7B432F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7B432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D9A5E-2AE0-432D-AA78-CC36FD7E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Назвать задачу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FF08F-E58F-4127-83E1-0E76CFBD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908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обложка, разделитель, теория, цитата, финал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75D00-771F-42FB-9A9D-F4B22BBB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002E5-7855-45B8-95F3-9956843A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 i="0">
                <a:solidFill>
                  <a:srgbClr val="7B432F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7B432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F0FA9-48A4-4BAC-A654-4138E473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Дать содержание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B0C78-5B52-4E91-91EE-8046352C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тезис, текст и желаемый сюжет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91E6CB-1A06-4332-8484-8BE9C8AB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83591-4CBF-4A25-85C5-B9023550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48200"/>
            <a:ext cx="64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 i="0">
                <a:solidFill>
                  <a:srgbClr val="7B432F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7B432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B989B-6C7E-4E87-8131-9545444D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Проверить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8D48C8-8746-4ECF-A711-E82F9234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стиль, safe zone, отсутствие текста в изображении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0C800-FF5E-4CB2-8254-7D3CB514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70670-80B3-4B9C-B1BF-05075004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Psy3107 · презентационная система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2D7F15-3A4C-46C9-8457-6FA7CCDF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5151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1734761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3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5B15B-A990-4054-BF67-4C73CA66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3065A-A499-490D-8025-3036D1F8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F83BF-F84D-44AC-9291-5E6CEBE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3821A-117E-462F-BA64-3AF5D0D5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ВИЗУАЛЬНАЯ ИДЕЯ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028E6-76DD-4A14-9B98-1CC55751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28C17C-53C4-45A7-9179-E3E8C256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1" i="0">
                <a:solidFill>
                  <a:srgbClr val="E5D8C1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E5D8C1"/>
                </a:solidFill>
                <a:latin typeface="Georgia"/>
                <a:ea typeface="Georgia"/>
                <a:cs typeface="Georgia"/>
              </a:rPr>
              <a:t>«Архивный сон» — это способ строить образ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B2C61-15B8-43A4-BEAD-1AFD11EF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Точность медицинского атласа постепенно переходит в логику сновидения. Странность рождается из материала и монтажа — не из спецэффекта.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3C630-1EDA-4B8B-901D-8458EAD1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91AEE-4113-4F54-BB95-FBA3CBCB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E5D8C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5D8C1"/>
                </a:solidFill>
                <a:latin typeface="Arial"/>
                <a:ea typeface="Arial"/>
                <a:cs typeface="Arial"/>
              </a:rPr>
              <a:t>АРХИВНЫЙ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7E900-0287-45CC-A850-E0C18A34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619AF-7338-43E1-9588-F1D741D8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E5D8C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5D8C1"/>
                </a:solidFill>
                <a:latin typeface="Arial"/>
                <a:ea typeface="Arial"/>
                <a:cs typeface="Arial"/>
              </a:rPr>
              <a:t>СЮРРЕАЛИСТИЧЕСКИЙ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418E0-2375-43BC-A265-948DAA54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F774E-8911-4FB1-9D28-FB74969B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E5D8C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5D8C1"/>
                </a:solidFill>
                <a:latin typeface="Arial"/>
                <a:ea typeface="Arial"/>
                <a:cs typeface="Arial"/>
              </a:rPr>
              <a:t>РУКОТВОРНЫЙ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8A42F-5958-4EDA-8FC3-C72DF84F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6908E-57FE-4DCF-8B7C-52AF13BD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721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E5D8C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5D8C1"/>
                </a:solidFill>
                <a:latin typeface="Arial"/>
                <a:ea typeface="Arial"/>
                <a:cs typeface="Arial"/>
              </a:rPr>
              <a:t>МУЗЕЙНЫЙ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3974D-C46F-4FE9-A91B-76931887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1049B-8069-4DAB-A48F-3115F367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5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E5D8C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5D8C1"/>
                </a:solidFill>
                <a:latin typeface="Arial"/>
                <a:ea typeface="Arial"/>
                <a:cs typeface="Arial"/>
              </a:rPr>
              <a:t>СОЗЕРЦАТЕЛЬНЫЙ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cc5c8c20b4c96"/>
          <a:srcRect xmlns:a="http://schemas.openxmlformats.org/drawingml/2006/main" l="0" t="5607" r="0" b="56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476250"/>
            <a:ext cx="5048250" cy="56007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FDDCC-2166-4E9A-BA11-685C5BD7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"/>
            <a:ext cx="9525" cy="579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6EA44-73F8-41E4-B223-0A922A87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D3E17B-48D9-4CE6-BB1B-00A2AC81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9F917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F917C"/>
                </a:solidFill>
                <a:latin typeface="Arial"/>
                <a:ea typeface="Arial"/>
                <a:cs typeface="Arial"/>
              </a:rPr>
              <a:t>Psy3107 · презентационная система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B9989-EF9A-47F3-9360-2A62342E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5151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 i="0">
                <a:solidFill>
                  <a:srgbClr val="9F917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F917C"/>
                </a:solidFill>
                <a:latin typeface="Arial"/>
                <a:ea typeface="Arial"/>
                <a:cs typeface="Arial"/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3373585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8C7A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50C511-CD23-4A21-A746-407AE704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67850-3F4D-4392-8252-913E0D2A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F80AB-BA14-4E30-B9F9-E94F660E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249C7-427C-44A7-8C11-D5949D0C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ЦВЕТ И МАТЕРИАЛ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5171E-B3AB-46D6-A058-2FAA9CC1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3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AB3596-CEFC-4EB0-A239-B935DB4F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09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Палитра выглядит впитанной в бумагу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EEF8A-8004-4B16-96A6-39C72E95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561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Основа — сепия, индиго, умбра и уголь. Кармин или тусклое золото появляются один раз и только как след аффекта.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4003B-9188-43E0-AD8D-EA6DD4A5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433A3-1D21-4E49-A44A-C28DA2D2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ARCHIVE BLACK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452C5-6FB3-4A33-BFA0-3CD38248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#1D1E24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81FFF-34DD-43FD-B92D-2526EE25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0525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638"/>
          </a:solidFill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43787-6965-4A3D-B01C-60201022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2006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DEEP INDIGO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119AD-0AD5-488F-A530-E2B1063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410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#232638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3BDAB-6A84-4914-AC63-6E09C59A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7"/>
          </a:solidFill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D8931-577B-455B-8A02-9A3B3CF0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006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AGED PAPER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32BEF-F01F-4E92-8516-F001777F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10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#D8C7A7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BAF38-F6EC-4CFD-A63F-32C698D5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0525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D87"/>
          </a:solidFill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30346-8A38-47A8-A47D-ACF349A3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2006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DEEP SEPIA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8513AB-4FBC-4917-B275-35CCD230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410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#C4AD87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A677C-3A58-47D3-8C23-A6844D80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32F"/>
          </a:solidFill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EB789-3160-43F4-9B16-2A4631BB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006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BURNT UMBER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65255-438E-4AF8-B8D3-E181C4E1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10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#7B432F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42976-6EA0-4944-901C-2BCEA05C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90525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5A52"/>
          </a:solidFill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245B2-A1A6-4575-ABB1-C77B1012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2006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DRIED CARMINE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5B1492-56A6-4DEA-9BA8-F18E9EFB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102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#955A52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0CB0A7-10D2-4765-89FF-4BDE9F22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ОФОРТ · АКВАТИНТА · УГОЛЬ · ТУШЬ · АКВАРЕЛЬНАЯ ДЫМКА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16227B-A759-4714-B66B-62336F5E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E02AB6-15DA-462B-8E87-8A57B762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Psy3107 · презентационная система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909DDF-4B0A-4BE1-8A11-7360E74B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5151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2099974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3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34DB7B-4220-4408-9A7C-83C4BF24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F5FF7-2751-41F0-8D38-BD63B017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AB3F4-E7A8-446C-8085-79D45543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8266E-58F2-480F-8892-EE0F9859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КОНСТРУКЦИЯ ОБРАЗА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BDA32-78BB-44D8-A5C4-F69E1B57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C678E4-1A26-4DFA-9322-58BA647C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85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 i="0">
                <a:solidFill>
                  <a:srgbClr val="E5D8C1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E5D8C1"/>
                </a:solidFill>
                <a:latin typeface="Georgia"/>
                <a:ea typeface="Georgia"/>
                <a:cs typeface="Georgia"/>
              </a:rPr>
              <a:t>Изображение складывается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 i="0">
                <a:solidFill>
                  <a:srgbClr val="E5D8C1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E5D8C1"/>
                </a:solidFill>
                <a:latin typeface="Georgia"/>
                <a:ea typeface="Georgia"/>
                <a:cs typeface="Georgia"/>
              </a:rPr>
              <a:t>из трёх реальностей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C20DA-A572-4C7B-A04E-798530E1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Соединять можно максимум две метафорические системы за раз.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B3BD6-99F5-4C41-9EFD-EC5805F9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900" b="1" i="0">
                <a:solidFill>
                  <a:srgbClr val="677184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677184"/>
                </a:solidFill>
                <a:latin typeface="Georgia"/>
                <a:ea typeface="Georgia"/>
                <a:cs typeface="Georgia"/>
              </a:rPr>
              <a:t>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0E2C5-6FA7-46F6-BCBD-16325DC6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E5D8C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5D8C1"/>
                </a:solidFill>
                <a:latin typeface="Arial"/>
                <a:ea typeface="Arial"/>
                <a:cs typeface="Arial"/>
              </a:rPr>
              <a:t>АНАТОМИЯ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C8A40-99FE-469F-9900-F57B54C9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90638-3B9B-43E0-B755-86371CE0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профиль, мозг, рука,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нервная система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2F292-2F6A-4455-B4EE-053651C5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900" b="1" i="0">
                <a:solidFill>
                  <a:srgbClr val="677184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677184"/>
                </a:solidFill>
                <a:latin typeface="Georgia"/>
                <a:ea typeface="Georgia"/>
                <a:cs typeface="Georgia"/>
              </a:rPr>
              <a:t>II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4BB69-4FC4-4A94-B07E-59713C16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481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E5D8C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5D8C1"/>
                </a:solidFill>
                <a:latin typeface="Arial"/>
                <a:ea typeface="Arial"/>
                <a:cs typeface="Arial"/>
              </a:rPr>
              <a:t>АРХИВ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C2CBE-FFCF-447F-88FA-623CF15F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8630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11088-C8F3-4BAC-8542-3FC7B305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1490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кабинет, бумага,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атлас, прибор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A2D50-C720-4A4E-AB73-90BA579A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29000"/>
            <a:ext cx="72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900" b="1" i="0">
                <a:solidFill>
                  <a:srgbClr val="955A52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955A52"/>
                </a:solidFill>
                <a:latin typeface="Georgia"/>
                <a:ea typeface="Georgia"/>
                <a:cs typeface="Georgia"/>
              </a:rPr>
              <a:t>III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EE42C-C654-458E-9E21-0A73F614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481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E5D8C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5D8C1"/>
                </a:solidFill>
                <a:latin typeface="Arial"/>
                <a:ea typeface="Arial"/>
                <a:cs typeface="Arial"/>
              </a:rPr>
              <a:t>СОН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B4CE86-63E8-4938-A9B4-04085276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2705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5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E4D1F-452E-4A4E-A05D-4DE4807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1490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корни, лабиринт,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геология, исчезновение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32AD3E-A322-4AB1-99C8-DBA4D377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АНАТОМИЯ + СОН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501184-A46A-4B34-AFDE-43FAF8C9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055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АРХИВ + СОН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91182-B0DD-4A8D-92E1-201101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90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АНАТОМИЯ + АРХИВ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B87AE-67CC-408E-AE3F-9E66D8D3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BECD0-D06D-4EEE-AE4E-0191FE4B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9F917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F917C"/>
                </a:solidFill>
                <a:latin typeface="Arial"/>
                <a:ea typeface="Arial"/>
                <a:cs typeface="Arial"/>
              </a:rPr>
              <a:t>Psy3107 · презентационная система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5BB7CC-37D5-4E04-AA1B-25253F9E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5151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 i="0">
                <a:solidFill>
                  <a:srgbClr val="9F917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F917C"/>
                </a:solidFill>
                <a:latin typeface="Arial"/>
                <a:ea typeface="Arial"/>
                <a:cs typeface="Arial"/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149844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8C7A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B527AF-B473-41A7-96DD-916EB5C3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B7A6D-69E7-4981-B622-E139B640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F4A4C-4169-40C5-87CC-AAAE4E9D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BBDA6-3692-427C-B57B-95368EB9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КОМПОЗИЦИЯ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60E60-5F0B-4D71-978F-B8A2CCA2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3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6229C7-4C17-4FC6-A8F3-2CEC95C2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75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Один слайд — один доминирующий архивный лист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2023B-8616-4639-AD32-5EA2AB55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7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Изображение и текст получают отдельные территории. Safe zone не является пустотой — это место для чтения.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E6029-EDC7-4BCF-B3E9-E4C27BCF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92CEB-1C78-4712-A2D2-A18CC742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40–60% изображения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594ED-F884-4BDD-B722-1F6BD47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289B0-1DC6-4B8A-A9A7-83698A17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35–45% спокойного поля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6ACC0-B25A-445E-B394-81D9BA21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8BC78-1016-4467-ABD5-E7EE2FD9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максимум 6–8 строк текста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B6C02A-F26C-409E-ABED-69F76465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E5F91-A8A0-4CE2-97D6-78A29C66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816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один карминный ИЛИ золотой акцент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BB564-AAB5-409D-9C96-76519086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7D0BF-C820-4A35-876D-B93C6A24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43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никакой активной фактуры под мелким текстом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91785-05E9-409A-861B-F5B7859E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04900"/>
            <a:ext cx="51054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2F149-E8A5-4BCE-B409-FC435C13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71600"/>
            <a:ext cx="18669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D87"/>
          </a:solidFill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486FF-7E56-41F5-B5B8-BF20A310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71600"/>
            <a:ext cx="27051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638"/>
          </a:solidFill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97965-1641-4EDF-A923-02FCD5B4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764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SAFE ZONE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5B1E08-854F-4697-8B2A-C2AC770F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1352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40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540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Aa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2EAC97-608F-42FE-9E3E-2D8CF96D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8145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 i="0">
                <a:solidFill>
                  <a:srgbClr val="65594E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65594E"/>
                </a:solidFill>
                <a:latin typeface="Georgia"/>
                <a:ea typeface="Georgia"/>
                <a:cs typeface="Georgia"/>
              </a:rPr>
              <a:t>35–45%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7533DC-4F03-4872-A29B-D80B6548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76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ART FIELD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D2FC50-8278-48A8-8C57-548CE4F4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000" b="1" i="0">
                <a:solidFill>
                  <a:srgbClr val="677184"/>
                </a:solidFill>
                <a:latin typeface="Georgia"/>
                <a:ea typeface="Georgia"/>
                <a:cs typeface="Georgia"/>
              </a:defRPr>
            </a:pPr>
            <a:r>
              <a:rPr sz="6000" b="1" i="0">
                <a:solidFill>
                  <a:srgbClr val="677184"/>
                </a:solidFill>
                <a:latin typeface="Georgia"/>
                <a:ea typeface="Georgia"/>
                <a:cs typeface="Georgia"/>
              </a:rPr>
              <a:t>III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8CBEB8-2E84-4573-91D9-3F2D0F30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 i="0">
                <a:solidFill>
                  <a:srgbClr val="CBB99D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CBB99D"/>
                </a:solidFill>
                <a:latin typeface="Georgia"/>
                <a:ea typeface="Georgia"/>
                <a:cs typeface="Georgia"/>
              </a:rPr>
              <a:t>40–60%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2AFB6-0277-4609-AEAB-8AA7121C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91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Текст и образ не перекрывают друг друга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386F5-FCFD-46C0-8894-9BA1ACB9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DEE50-471E-4823-9D14-BC3893F7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Psy3107 · презентационная система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63DEF4-FA1A-417D-9A0F-528E9E11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5151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4157452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3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DA2575-2D57-486B-B110-ED6DF96A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6CEED-D3DE-4993-A1B6-B830307D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9C113-6A78-49C1-824F-FFDD1439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95185-563D-4A88-B596-8BAD8CA0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ТИПОГРАФИКА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6528C-62A0-4DEC-B695-962A7715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580FF8-C835-40DE-8308-0049D468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71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1" i="0">
                <a:solidFill>
                  <a:srgbClr val="E5D8C1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E5D8C1"/>
                </a:solidFill>
                <a:latin typeface="Georgia"/>
                <a:ea typeface="Georgia"/>
                <a:cs typeface="Georgia"/>
              </a:rPr>
              <a:t>Текст удерживает музейную тишину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4FF45-0C9C-450C-9341-B01102C8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E5D8C1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E5D8C1"/>
                </a:solidFill>
                <a:latin typeface="Georgia"/>
                <a:ea typeface="Georgia"/>
                <a:cs typeface="Georgia"/>
              </a:rPr>
              <a:t>Cormorant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E5D8C1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E5D8C1"/>
                </a:solidFill>
                <a:latin typeface="Georgia"/>
                <a:ea typeface="Georgia"/>
                <a:cs typeface="Georgia"/>
              </a:rPr>
              <a:t>Garamond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053C7-344D-41AA-992D-53E01BF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9F917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9F917C"/>
                </a:solidFill>
                <a:latin typeface="Arial"/>
                <a:ea typeface="Arial"/>
                <a:cs typeface="Arial"/>
              </a:rPr>
              <a:t>заголовки · цитаты · номера разделов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FF49A-F8FD-45D6-896B-56E2BAAA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31360-A3E9-4BF5-8363-A0C59BE9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25" b="1" i="0">
                <a:solidFill>
                  <a:srgbClr val="E5D8C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E5D8C1"/>
                </a:solidFill>
                <a:latin typeface="Arial"/>
                <a:ea typeface="Arial"/>
                <a:cs typeface="Arial"/>
              </a:rPr>
              <a:t>Manrope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50327-7A57-46A0-85C2-958692EB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9F917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9F917C"/>
                </a:solidFill>
                <a:latin typeface="Arial"/>
                <a:ea typeface="Arial"/>
                <a:cs typeface="Arial"/>
              </a:rPr>
              <a:t>основной текст · подписи · folio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447DF-834F-48C9-8512-0A8EE9F5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62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Надёжная замена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02BA9-046A-48A8-90DD-67A94E97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75" b="1" i="0">
                <a:solidFill>
                  <a:srgbClr val="E5D8C1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E5D8C1"/>
                </a:solidFill>
                <a:latin typeface="Georgia"/>
                <a:ea typeface="Georgia"/>
                <a:cs typeface="Georgia"/>
              </a:rPr>
              <a:t>Georgia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375" b="1" i="0">
                <a:solidFill>
                  <a:srgbClr val="E5D8C1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E5D8C1"/>
                </a:solidFill>
                <a:latin typeface="Georgia"/>
                <a:ea typeface="Georgia"/>
                <a:cs typeface="Georgia"/>
              </a:rPr>
              <a:t>+ Arial / Aptos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6EACA-4BCC-419B-8485-2D0C1A46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433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E5D8C1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E5D8C1"/>
                </a:solidFill>
                <a:latin typeface="Georgia"/>
                <a:ea typeface="Georgia"/>
                <a:cs typeface="Georgia"/>
              </a:rPr>
              <a:t>56–72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B1663-CCCA-4C6C-86F9-624F9125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обложка 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871F3-0299-4F7B-B08A-06E027CC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291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E5D8C1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E5D8C1"/>
                </a:solidFill>
                <a:latin typeface="Georgia"/>
                <a:ea typeface="Georgia"/>
                <a:cs typeface="Georgia"/>
              </a:rPr>
              <a:t>34–44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2097C-55D9-4D92-BA83-B0F58B9E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481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заголовок 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04FDC-285E-483B-BD26-1BAC7529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149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E5D8C1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E5D8C1"/>
                </a:solidFill>
                <a:latin typeface="Georgia"/>
                <a:ea typeface="Georgia"/>
                <a:cs typeface="Georgia"/>
              </a:rPr>
              <a:t>18–22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22333F-2DB4-436B-B57B-396DFE7E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33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основной текст 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50925-EF2D-4A88-BD44-C1364D50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006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 i="0">
                <a:solidFill>
                  <a:srgbClr val="E5D8C1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E5D8C1"/>
                </a:solidFill>
                <a:latin typeface="Georgia"/>
                <a:ea typeface="Georgia"/>
                <a:cs typeface="Georgia"/>
              </a:rPr>
              <a:t>11–13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CF684D-D951-4844-BC0A-EE72769E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197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подпись / folio 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E8596-8292-469E-B608-3801C5B0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14E15-BF52-4B16-A279-8CD7CEED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9F917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F917C"/>
                </a:solidFill>
                <a:latin typeface="Arial"/>
                <a:ea typeface="Arial"/>
                <a:cs typeface="Arial"/>
              </a:rPr>
              <a:t>Psy3107 · презентационная система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EBF39A-F24F-4CA8-BE50-D6AED898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5151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 i="0">
                <a:solidFill>
                  <a:srgbClr val="9F917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F917C"/>
                </a:solidFill>
                <a:latin typeface="Arial"/>
                <a:ea typeface="Arial"/>
                <a:cs typeface="Arial"/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331036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8C7A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C546D7-D260-4FE1-ADF8-B1010FD0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675DA-7C22-4098-AC6B-016F2106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AD368-0ED0-490E-B390-0967B989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159F5-8299-41EC-A8DD-06038FF5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СЛАЙДОВЫЕ ЗАДАЧИ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50425-7FFA-4D60-9F1A-C92F4608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3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A503B5-68C5-461A-92FF-C11D9EE8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85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Сначала определяется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функция — затем композиция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DD0EF-89F0-48B9-A1AD-92CEFA11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Не просите нейросеть «сделать красиво». Назовите тип слайда.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E4202-7ABD-483A-93CC-A0B364E2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7B432F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7B432F"/>
                </a:solidFill>
                <a:latin typeface="Georgia"/>
                <a:ea typeface="Georgia"/>
                <a:cs typeface="Georgia"/>
              </a:rPr>
              <a:t>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EC736D-76EA-4E2C-9D32-6F74BA3E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24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ОБЛОЖКА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D1D5F-421B-451B-A01A-C2A0069F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290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B2159-3ABD-4576-9136-B4F42019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7B432F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7B432F"/>
                </a:solidFill>
                <a:latin typeface="Georgia"/>
                <a:ea typeface="Georgia"/>
                <a:cs typeface="Georgia"/>
              </a:rPr>
              <a:t>II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98E17-6B6D-4465-892E-3A9D44A1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14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РАЗДЕЛИТЕЛЬ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11A9A-E820-4738-9B23-A9C95D9C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960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A79E3-198D-4604-B7D7-B3CB7717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7B432F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7B432F"/>
                </a:solidFill>
                <a:latin typeface="Georgia"/>
                <a:ea typeface="Georgia"/>
                <a:cs typeface="Georgia"/>
              </a:rPr>
              <a:t>III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D5F4E-EB36-4F4D-B2B0-62F7E18C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05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ТЕОРИЯ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E692AB-E1ED-4388-8C71-8E003B9B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82FBA8-AE8A-49AB-A378-917ADAE1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7B432F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7B432F"/>
                </a:solidFill>
                <a:latin typeface="Georgia"/>
                <a:ea typeface="Georgia"/>
                <a:cs typeface="Georgia"/>
              </a:rPr>
              <a:t>IV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AD887-8309-4D7F-B9AE-B91A3F36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95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ЦИТАТА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35C7B-E41A-43D2-B14D-C9969B34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0070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8BB5E-C62E-42E8-BA03-EEB66BFF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242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7B432F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7B432F"/>
                </a:solidFill>
                <a:latin typeface="Georgia"/>
                <a:ea typeface="Georgia"/>
                <a:cs typeface="Georgia"/>
              </a:rPr>
              <a:t>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88650-E233-4D71-8566-C4EB53A9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24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КЛИНИЧЕСКИЙ ФРАГМЕНТ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041DE-1688-4031-B0C3-E8084F27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AFC9F5-0999-4934-81BA-42D1FE0C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148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7B432F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7B432F"/>
                </a:solidFill>
                <a:latin typeface="Georgia"/>
                <a:ea typeface="Georgia"/>
                <a:cs typeface="Georgia"/>
              </a:rPr>
              <a:t>VI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DD9B4D-1AB3-4573-9393-7D14D288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СРАВНЕНИЕ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88A0E-0261-4041-910B-D75A3C24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91F741-E73E-4FEA-BE45-D0A1D0CE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053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955A52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955A52"/>
                </a:solidFill>
                <a:latin typeface="Georgia"/>
                <a:ea typeface="Georgia"/>
                <a:cs typeface="Georgia"/>
              </a:rPr>
              <a:t>VII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351B0A-9400-47C7-8E9C-5D45FB1D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ФИНАЛ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5A1BEE-E69E-469C-AB7F-95F46499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101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7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01DC90-3E9C-420C-AA21-CC2A0266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2573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4875" b="1" i="0">
                <a:solidFill>
                  <a:srgbClr val="7B432F"/>
                </a:solidFill>
                <a:latin typeface="Georgia"/>
                <a:ea typeface="Georgia"/>
                <a:cs typeface="Georgia"/>
              </a:defRPr>
            </a:pPr>
            <a:r>
              <a:rPr sz="4875" b="1" i="0">
                <a:solidFill>
                  <a:srgbClr val="7B432F"/>
                </a:solidFill>
                <a:latin typeface="Georgia"/>
                <a:ea typeface="Georgia"/>
                <a:cs typeface="Georgia"/>
              </a:rPr>
              <a:t>16:9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07E6DD-1802-433A-B081-42C275D2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955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базовый формат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961E0B-850F-4D19-83B7-42A7FE15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592C26-5BF8-4CF5-9C7C-84DCC995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Psy3107 · презентационная система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323D3A-8369-4043-912A-3D9B9F5D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5151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11175771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9e562d6f14ef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62695-D233-46EB-81D6-C8D2A724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6188B-A74C-4C8C-A575-5764090A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7B432F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7B432F"/>
                </a:solidFill>
                <a:latin typeface="Georgia"/>
                <a:ea typeface="Georgia"/>
                <a:cs typeface="Georgia"/>
              </a:rPr>
              <a:t>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76FB8-FE5B-46F5-AD71-811FF92C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667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Разделитель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40834-C867-4C91-A7EA-8B3D98C5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Короткое название. Большое спокойное поле.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Изображение существует как край архивной пластины.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536D9-5EB8-49F3-95FB-4BD19EA2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310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3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2BC6E-3663-46D1-851B-5357725C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МАКЕТ · SECTION DIVIDER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69069-B47E-4E0E-89F4-B0EA3BBB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389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7302699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224b2bab24f8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980C9-7F24-415E-A8F4-80A2B3B7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BC307-0CFA-4B76-8580-7796F4CB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858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IV · ЦИТАТА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9978E-1D89-47AF-96D9-BAB45914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66850"/>
            <a:ext cx="3714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75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«Образ должен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75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замедлить взгляд,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75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а не объяснить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75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всё сразу»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0D18D-5A08-4D65-98DC-109ED4B6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43400"/>
            <a:ext cx="2838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3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81AFC-29C3-4CC0-8488-37563681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52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Принцип Psy3107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F5E20-BA5C-4E00-B230-7A887A49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578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Изображение слева · safe zone справа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90313-387E-47EA-97E4-7167E5CE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389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6706287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8C7A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A6719-B5B6-4A15-B924-92EA38D2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7EF44-ED7F-46D6-8010-35851D14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9648C-C91F-4E59-8207-C2F96546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9EA54-299B-4CFA-9F98-B4D832B6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III · ТЕОРИЯ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7FAC7-D9B3-41E2-9420-AA2EA821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392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3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0B57F3-F3ED-43F4-BB63-5CC441D6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Тексту и образу —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15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своя территория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03A9F-48D3-4375-AF60-DA327FDE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4476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7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Форклюзированное возвращается не как воспоминание, а как событие Реального. Визуальный образ не иллюстрирует термин буквально — он удерживает разрыв.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F1A92-E628-4B2B-95CC-714AD589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РАБОЧИЙ ВОПРОС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74E7D-6AF8-44E6-B97F-4AABAAD8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Что в материале нельзя восстановить как связный рассказ?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eb82b94294dd1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609600"/>
            <a:ext cx="5334000" cy="5334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A034F-74C4-45A5-9520-4C2753C2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76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50" b="1" i="0">
                <a:solidFill>
                  <a:srgbClr val="C4AD87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4AD87"/>
                </a:solidFill>
                <a:latin typeface="Arial"/>
                <a:ea typeface="Arial"/>
                <a:cs typeface="Arial"/>
              </a:rPr>
              <a:t>PLATE V · PSYCHIC ATLAS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58AC0-B2BA-487D-BB4A-A2D11460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397EEC-2BB9-4063-934E-B0CDF2B4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Psy3107 · презентационная система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D91DA-9AA9-4C73-8BE3-D0056D01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5151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2320499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3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56992-0514-4B43-8C5F-563BEC8E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B7E48-5081-4C49-8FA1-CFE2FACD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4F02F-322A-446B-A36C-2907FD0C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6b11fb2b84e85"/>
          <a:srcRect xmlns:a="http://schemas.openxmlformats.org/drawingml/2006/main" l="15469" t="0" r="154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57200"/>
            <a:ext cx="6896100" cy="5619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D6463-9A5F-4057-A155-9DC95394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7200"/>
            <a:ext cx="403860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E4F01-A49B-4549-8B72-14B2886F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8763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V · КЛИНИЧЕСКИЙ ФРАГМЕНТ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46F91-0277-4597-B8CC-9DF4BAB7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09700"/>
            <a:ext cx="3105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 i="0">
                <a:solidFill>
                  <a:srgbClr val="E5D8C1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E5D8C1"/>
                </a:solidFill>
                <a:latin typeface="Georgia"/>
                <a:ea typeface="Georgia"/>
                <a:cs typeface="Georgia"/>
              </a:rPr>
              <a:t>Интерьер вместо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550" b="1" i="0">
                <a:solidFill>
                  <a:srgbClr val="E5D8C1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E5D8C1"/>
                </a:solidFill>
                <a:latin typeface="Georgia"/>
                <a:ea typeface="Georgia"/>
                <a:cs typeface="Georgia"/>
              </a:rPr>
              <a:t>буквального симптома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F718A-D6B6-422C-8CFB-06FA2A3C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31051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350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Пустой стул, рабочий стол и незавершённая сцена показывают след присутствия. Меланхолия возникает без драматизации и хоррора.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9286E-5CC8-4604-BEB1-EBEBC968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ВОПРОС К МАТЕРИАЛУ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E50F7-4F90-4FBF-BB3C-5BF8CE88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29200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 i="0">
                <a:solidFill>
                  <a:srgbClr val="E5D8C1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E5D8C1"/>
                </a:solidFill>
                <a:latin typeface="Georgia"/>
                <a:ea typeface="Georgia"/>
                <a:cs typeface="Georgia"/>
              </a:rPr>
              <a:t>Что остаётся после исчезновения собеседника?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FC7BF-9C55-4D9C-AC57-EA7260BA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B3091-5D76-47D6-992B-01B28A3A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9F917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F917C"/>
                </a:solidFill>
                <a:latin typeface="Arial"/>
                <a:ea typeface="Arial"/>
                <a:cs typeface="Arial"/>
              </a:rPr>
              <a:t>Psy3107 · презентационная система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65CD8-1D6C-46B8-81B7-380A869B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5151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 i="0">
                <a:solidFill>
                  <a:srgbClr val="9F917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F917C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13707901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D8C7A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CA4DC-9FFC-44ED-97AE-7493CBE3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C1F67-F46F-44B9-B0FE-10E57DBA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9D62B-5554-458D-9C42-4FF6DF14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E8DBC-ADBB-4F4F-8D91-0FBB2322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MASTER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6EB78-66BA-4180-A5F6-7A243059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392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3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B4E7B6-1660-4A5E-8FD2-567E07F4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Фиксируйте технику,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30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палитру и композицию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8EBFD-B7D1-4D98-9050-09F749C2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Меняйте только сюжет и вторую метафору.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05C4D-3523-4F33-8D82-95F0D81C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EF4FE-6AA0-4F5C-8A62-C05F5476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101346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E5D8C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5D8C1"/>
                </a:solidFill>
                <a:latin typeface="Arial"/>
                <a:ea typeface="Arial"/>
                <a:cs typeface="Arial"/>
              </a:rPr>
              <a:t>[SUBJECT], visualized as a plate from an imaginary late-19th-century psychoanalytic atlas. Vintage academic copper etching and surrealist archival collage on aged textured paper. Fine hand-drawn lines, cross-hatching, aquatint shadows, charcoal, ink and restrained watercolor washes. Anatomical precision gradually transforms into [ROOTS / STRAIGHT LABYRINTH / GEOLOGY / EMPTY STUDY / NEURAL BRANCHES]. Muted sepia, deep indigo, burnt umber and charcoal; one tiny muted carmine OR dull-gold accent. Intellectual, contemplative, dreamlike, slightly melancholic, never frightening. Presentation composition, 16:9, main visual mass [LEFT / RIGHT], 40% quiet paper safe zone for typography, no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C5F3D-53DA-4F80-8BA0-9AB3D18E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00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Полная версия и готовые рецепты находятся в Prompt Pack.txt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EAF28-F05D-4EB2-83C8-B5F1B0BC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FA576-12C6-4652-B019-D313D44A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Psy3107 · презентационная система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AB65F-0AF5-4C78-89B5-F97AE93F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5151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7629618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3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8E463E-B93F-463F-9AD4-50C43029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3D354-9564-4BA0-8F80-6F5F7D2C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94586-4F29-4B30-AFA3-BF62659D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0D3D7-9715-4A3E-BC96-F1143C6A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NEGATIVE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12398-D3E1-4847-A434-21BC3945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392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D695A7-F60C-4E04-A616-5CF1DD60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66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 i="0">
                <a:solidFill>
                  <a:srgbClr val="E5D8C1"/>
                </a:solidFill>
                <a:latin typeface="Georgia"/>
                <a:ea typeface="Georgia"/>
                <a:cs typeface="Georgia"/>
              </a:defRPr>
            </a:pPr>
            <a:r>
              <a:rPr sz="3600" b="1" i="0">
                <a:solidFill>
                  <a:srgbClr val="E5D8C1"/>
                </a:solidFill>
                <a:latin typeface="Georgia"/>
                <a:ea typeface="Georgia"/>
                <a:cs typeface="Georgia"/>
              </a:rPr>
              <a:t>Запреты защищают систему от визуальных клише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CE51C-A7D0-424A-BD7C-3032E7A3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00100"/>
            <a:ext cx="2000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7800" b="1" i="0">
                <a:solidFill>
                  <a:srgbClr val="955A52"/>
                </a:solidFill>
                <a:latin typeface="Georgia"/>
                <a:ea typeface="Georgia"/>
                <a:cs typeface="Georgia"/>
              </a:defRPr>
            </a:pPr>
            <a:r>
              <a:rPr sz="7800" b="1" i="0">
                <a:solidFill>
                  <a:srgbClr val="955A52"/>
                </a:solidFill>
                <a:latin typeface="Georgia"/>
                <a:ea typeface="Georgia"/>
                <a:cs typeface="Georgia"/>
              </a:rPr>
              <a:t>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0492E-CCC6-4AFD-A4CB-997E9C10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СТИЛЬ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AB142-E2C0-4AEB-BD1E-C61B7EAC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BE766-0E66-4CA9-899A-EFC22BAF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cartoon · anime · 3D · CGI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corporate Memphis · photorealism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EFDE2-BD6E-4AB5-B134-B9E2C5C4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ЦВЕТ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31AA0-55E5-4450-A8CA-2A4D6135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CA85D-CDE6-4943-B3C9-48B7E0E8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neon · bright · saturated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excessive gold · excessive 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F8D75-C8F1-4F51-88DE-4F85D99C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КЛИШЕ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8AC9F-0B97-4E07-AE67-B5E5A0A9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3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CA25F-A6B8-4C81-A243-33F9B2CB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528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gears in brain · glowing eye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arches · stock therapist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B693B-6C84-4CF5-B71F-8AC05D88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АТМОСФЕРА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52626-9746-43CF-B204-5D883A85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832CA-B878-4523-8E01-480B24C2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gore · horror · occult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jump scare · demonic imagery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091851-1287-4F8E-B784-D8E7185F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24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КАЧЕСТВО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8ADEE-8C4B-43B1-8D3C-ECCC0440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291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E99589-BF67-4198-AFB2-F4ADFE83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196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text · logo · watermark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blurry · low resolution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F893C-3E79-4728-B16A-A9D2F2E8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243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КОМПОЗИЦИЯ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02A3E5-9FC2-4C34-894F-513ADECB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291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990CC4-1CC8-46B2-B81E-45F48286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96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clutter · multiple metaphors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CBB99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BB99D"/>
                </a:solidFill>
                <a:latin typeface="Arial"/>
                <a:ea typeface="Arial"/>
                <a:cs typeface="Arial"/>
              </a:rPr>
              <a:t>active texture under small 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D559E4-E7B0-468F-842E-5D37AF38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 i="0">
                <a:solidFill>
                  <a:srgbClr val="E5D8C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5D8C1"/>
                </a:solidFill>
                <a:latin typeface="Arial"/>
                <a:ea typeface="Arial"/>
                <a:cs typeface="Arial"/>
              </a:rPr>
              <a:t>Главный тест: странность должна рождаться из точности, а не из спецэффекта.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F4B6D4-7EFC-4045-B3E7-AC83B8FF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9D114E-F5CA-417C-BB17-961FC169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9F917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F917C"/>
                </a:solidFill>
                <a:latin typeface="Arial"/>
                <a:ea typeface="Arial"/>
                <a:cs typeface="Arial"/>
              </a:rPr>
              <a:t>Psy3107 · презентационная система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68CDD9-9413-4D70-9CBB-4E3917F2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5151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 i="0">
                <a:solidFill>
                  <a:srgbClr val="9F917C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F917C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985753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D8C7A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A2FE7E-14E5-4F8B-ADAD-D1C50E75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52CB2-E241-4829-AB07-B72EFCD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D3585-B796-435C-8FA7-A815D1B5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4800"/>
            <a:ext cx="11582400" cy="624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F523C-1E78-4529-B2EF-553B4837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ГОТОВО К ГЕНЕРАЦИИ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ACB0C-2E6D-403E-93D4-8AA80C78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392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3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C9C92C-D770-4771-A552-FB631F02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334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Один запрос — один тип слайда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F435F-F9F7-4D41-A8EC-F482283F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Загрузите три файла: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2D031-4901-4A5C-9E44-A82E14B9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01 · PDF-брендбук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0FFA1-BFA0-48E3-BDFD-C3C23DA2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02 · Prompt Pack.txt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7F53F-7074-4686-A9D4-2BF01939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03 · 1–3 эталонных изображения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082FF-620B-4590-8BAE-16984FC6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 i="0">
                <a:solidFill>
                  <a:srgbClr val="7B432F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B432F"/>
                </a:solidFill>
                <a:latin typeface="Georgia"/>
                <a:ea typeface="Georgia"/>
                <a:cs typeface="Georgia"/>
              </a:rPr>
              <a:t>ТИП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0F7B6-CADD-44F4-9A8C-703CA8F1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097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65594E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65594E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2273D-8CBF-4FA7-8E80-0173E656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287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ТЕЗИС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0499D-418B-486E-827C-E9FC5F4C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40970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65594E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65594E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53684-8C6E-482B-9561-310C8E3C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4287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725" b="1" i="0">
                <a:solidFill>
                  <a:srgbClr val="302B27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302B27"/>
                </a:solidFill>
                <a:latin typeface="Georgia"/>
                <a:ea typeface="Georgia"/>
                <a:cs typeface="Georgia"/>
              </a:rPr>
              <a:t>СЮЖЕТ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A5D0A-BBFD-4E59-9299-8CA47468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3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887C0-F631-4B64-9E59-DFB11CAC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SAFE ZONE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53A3A-F7A7-43B4-BF88-EB9E8225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19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EEA04-B048-46F1-9740-1339F105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5745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350" b="1" i="0">
                <a:solidFill>
                  <a:srgbClr val="302B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02B27"/>
                </a:solidFill>
                <a:latin typeface="Arial"/>
                <a:ea typeface="Arial"/>
                <a:cs typeface="Arial"/>
              </a:rPr>
              <a:t>NEGATIVE PROMPT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336B8-F2D2-458A-A136-7A6D0D80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200"/>
            <a:ext cx="48958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E24"/>
          </a:solidFill>
          <a:ln xmlns:a="http://schemas.openxmlformats.org/drawingml/2006/main" w="9525">
            <a:solidFill>
              <a:srgbClr val="6559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083323-6F5E-45B2-9EF8-A30A55CF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290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 i="0">
                <a:solidFill>
                  <a:srgbClr val="B67C5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67C5A"/>
                </a:solidFill>
                <a:latin typeface="Arial"/>
                <a:ea typeface="Arial"/>
                <a:cs typeface="Arial"/>
              </a:rPr>
              <a:t>ПРОВЕРКА СХОЖЕСТИ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3D8AD-9759-4B5C-850F-6843D4E0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48100"/>
            <a:ext cx="4095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E5D8C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5D8C1"/>
                </a:solidFill>
                <a:latin typeface="Arial"/>
                <a:ea typeface="Arial"/>
                <a:cs typeface="Arial"/>
              </a:rPr>
              <a:t>Музейный лист, не digital art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E5D8C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5D8C1"/>
                </a:solidFill>
                <a:latin typeface="Arial"/>
                <a:ea typeface="Arial"/>
                <a:cs typeface="Arial"/>
              </a:rPr>
              <a:t>Странность из точности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E5D8C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5D8C1"/>
                </a:solidFill>
                <a:latin typeface="Arial"/>
                <a:ea typeface="Arial"/>
                <a:cs typeface="Arial"/>
              </a:rPr>
              <a:t>Приглушённая палитра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E5D8C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5D8C1"/>
                </a:solidFill>
                <a:latin typeface="Arial"/>
                <a:ea typeface="Arial"/>
                <a:cs typeface="Arial"/>
              </a:rPr>
              <a:t>Текст не встроен в изображение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E5D8C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5D8C1"/>
                </a:solidFill>
                <a:latin typeface="Arial"/>
                <a:ea typeface="Arial"/>
                <a:cs typeface="Arial"/>
              </a:rPr>
              <a:t>Нет арок, 3D, неона и хоррора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34D053-CD2F-44D9-B5D4-D4D4F354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 i="0">
                <a:solidFill>
                  <a:srgbClr val="7B432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B432F"/>
                </a:solidFill>
                <a:latin typeface="Arial"/>
                <a:ea typeface="Arial"/>
                <a:cs typeface="Arial"/>
              </a:rPr>
              <a:t>АРХИВ · СНОВИДЕНИЕ · ШТРИХ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6BA813-8ED9-46A2-AB38-E42E5F62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9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04956-E666-40A1-A3A6-9164A4A6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Psy3107 · презентационная система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A400B-FE4A-4AB8-A23E-5DD5AE7E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5151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 i="0">
                <a:solidFill>
                  <a:srgbClr val="655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5594E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504355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2026-07-31T07:47:27.2570000Z</dcterms:created>
  <dcterms:modified xsi:type="dcterms:W3CDTF">2026-07-31T07:47:27.2570000Z</dcterms:modified>
</coreProperties>
</file>